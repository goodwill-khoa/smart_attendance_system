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12064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9DECF"/>
                </a:solidFill>
                <a:latin typeface="Aptos"/>
              </a:defRPr>
            </a:pPr>
            <a:r>
              <a:t>SMART ATTENDANCE SYSTEM  /  RFID UPGRADE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212080" cy="1554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Scheduled RFID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82112"/>
            <a:ext cx="502920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8F0"/>
                </a:solidFill>
                <a:latin typeface="Aptos"/>
              </a:defRPr>
            </a:pPr>
            <a:r>
              <a:t>End-to-end process guide</a:t>
            </a:r>
          </a:p>
          <a:p>
            <a:pPr>
              <a:spcAft>
                <a:spcPts val="700"/>
              </a:spcAft>
              <a:defRPr sz="1900" b="0">
                <a:solidFill>
                  <a:srgbClr val="DCE8F0"/>
                </a:solidFill>
                <a:latin typeface="Aptos"/>
              </a:defRPr>
            </a:pPr>
            <a:r>
              <a:t>Roles, timing rules, scenarios and lecturer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681728"/>
            <a:ext cx="2331720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713732"/>
            <a:ext cx="2185415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SCREENSHOT-BASED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97880"/>
            <a:ext cx="53035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C3D3DE"/>
                </a:solidFill>
                <a:latin typeface="Aptos"/>
              </a:defRPr>
            </a:pPr>
            <a:r>
              <a:t>Sample lecturer persona: Dr. Peter Kiss (demo identity)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74904"/>
            <a:ext cx="5422392" cy="606247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demo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873" y="411480"/>
            <a:ext cx="4086212" cy="5989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What changed in this upgrade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3677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72768"/>
            <a:ext cx="4782312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Before: attendance centered on lecturer-started QR sessions and manual check-in.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68879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404872"/>
            <a:ext cx="4782312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New: room-based RFID tap events feed a register aligned to recurring course schedules.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00984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236976"/>
            <a:ext cx="4782312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Lecturers associate a course with a room, weekday and start/end time; the reader tracks room occupancy.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3308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69080"/>
            <a:ext cx="4782312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existing QR workflow remains available; it is not replaced by this prototype.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837943"/>
            <a:ext cx="5285232" cy="222199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3_snapshot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72508"/>
            <a:ext cx="5212080" cy="13528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63640" y="4343400"/>
            <a:ext cx="4983480" cy="1143000"/>
          </a:xfrm>
          <a:prstGeom prst="roundRect">
            <a:avLst/>
          </a:prstGeom>
          <a:solidFill>
            <a:srgbClr val="E2F6F1"/>
          </a:solidFill>
          <a:ln>
            <a:solidFill>
              <a:srgbClr val="E2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553712"/>
            <a:ext cx="45262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8233F"/>
                </a:solidFill>
                <a:latin typeface="Aptos"/>
              </a:defRPr>
            </a:pPr>
            <a:r>
              <a:t>The central change is automatic, schedule-timed attendance classification?not simply a different way to check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PEOPLE AND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Who is using the system?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1847088"/>
            <a:ext cx="1325880" cy="292608"/>
          </a:xfrm>
          <a:prstGeom prst="roundRect">
            <a:avLst/>
          </a:prstGeom>
          <a:solidFill>
            <a:srgbClr val="08233F"/>
          </a:solidFill>
          <a:ln>
            <a:solidFill>
              <a:srgbClr val="08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9092"/>
            <a:ext cx="11795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31720"/>
            <a:ext cx="452628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08233F"/>
                </a:solidFill>
                <a:latin typeface="Aptos"/>
              </a:defRPr>
            </a:pPr>
            <a:r>
              <a:t>Dr. Peter Kiss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71800"/>
            <a:ext cx="4480560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Sample/demo lecturer persona used to explain the workflow.</a:t>
            </a:r>
          </a:p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dashboard currently shows the page role, but does not display the signed-in email/name in its header. Do not treat this sample identity as a verified active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72768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847088"/>
            <a:ext cx="4526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8233F"/>
                </a:solidFill>
                <a:latin typeface="Aptos"/>
              </a:defRPr>
            </a:pPr>
            <a:r>
              <a:t>Role responsibilities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242316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359152"/>
            <a:ext cx="4325112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Lecturer: configure recurring class slots and review attendance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331927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3255264"/>
            <a:ext cx="4325112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Reader: posts entry/exit taps for its registered room; reader state is shown on a kiosk-style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4215384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4151376"/>
            <a:ext cx="4325112" cy="8412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Administrator: registers reader hardware/credentials and maintains institutional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End-to-end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874519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29968"/>
            <a:ext cx="384048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61972"/>
            <a:ext cx="2377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14600"/>
            <a:ext cx="1783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233F"/>
                </a:solidFill>
                <a:latin typeface="Aptos"/>
              </a:defRPr>
            </a:pPr>
            <a:r>
              <a:t>Course + time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26080"/>
            <a:ext cx="17830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92A3A"/>
                </a:solidFill>
                <a:latin typeface="Aptos"/>
              </a:defRPr>
            </a:pPr>
            <a:r>
              <a:t>Lecturer assigns course, room, weekday and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578608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D978E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1874519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9232" y="2029968"/>
            <a:ext cx="384048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061972"/>
            <a:ext cx="2377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514600"/>
            <a:ext cx="1783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233F"/>
                </a:solidFill>
                <a:latin typeface="Aptos"/>
              </a:defRPr>
            </a:pPr>
            <a:r>
              <a:t>Card tap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2926080"/>
            <a:ext cx="17830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92A3A"/>
                </a:solidFill>
                <a:latin typeface="Aptos"/>
              </a:defRPr>
            </a:pPr>
            <a:r>
              <a:t>Reader sends an entry or exit event.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2578608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D978E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874519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0952" y="2029968"/>
            <a:ext cx="384048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2061972"/>
            <a:ext cx="2377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514600"/>
            <a:ext cx="1783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233F"/>
                </a:solidFill>
                <a:latin typeface="Aptos"/>
              </a:defRPr>
            </a:pPr>
            <a:r>
              <a:t>Room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926080"/>
            <a:ext cx="17830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92A3A"/>
                </a:solidFill>
                <a:latin typeface="Aptos"/>
              </a:defRPr>
            </a:pPr>
            <a:r>
              <a:t>System tracks who remains inside.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3" y="2578608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D978E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1" y="1874519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62671" y="2029968"/>
            <a:ext cx="384048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35823" y="2061972"/>
            <a:ext cx="2377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2514600"/>
            <a:ext cx="1783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233F"/>
                </a:solidFill>
                <a:latin typeface="Aptos"/>
              </a:defRPr>
            </a:pPr>
            <a:r>
              <a:t>Snapshot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926080"/>
            <a:ext cx="17830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92A3A"/>
                </a:solidFill>
                <a:latin typeface="Aptos"/>
              </a:defRPr>
            </a:pPr>
            <a:r>
              <a:t>At start + 15 min, occupants are classified.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3" y="2578608"/>
            <a:ext cx="25603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D978E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1874519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94392" y="2029968"/>
            <a:ext cx="384048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061972"/>
            <a:ext cx="23774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4392" y="2514600"/>
            <a:ext cx="1783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8233F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2926080"/>
            <a:ext cx="17830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92A3A"/>
                </a:solidFill>
                <a:latin typeface="Aptos"/>
              </a:defRPr>
            </a:pPr>
            <a:r>
              <a:t>Lecturer reviews course attendance.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114800"/>
            <a:ext cx="10698480" cy="1417320"/>
          </a:xfrm>
          <a:prstGeom prst="roundRect">
            <a:avLst/>
          </a:prstGeom>
          <a:solidFill>
            <a:srgbClr val="FFF6DF"/>
          </a:solidFill>
          <a:ln>
            <a:solidFill>
              <a:srgbClr val="F0D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325112"/>
            <a:ext cx="1014984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8233F"/>
                </a:solidFill>
                <a:latin typeface="Aptos"/>
              </a:defRPr>
            </a:pPr>
            <a:r>
              <a:t>HARDWARE-FREE DEMO: the virtual reader simulates taps and time; it does not emulate radio hardware. Once compatible physical hardware is connected, the reader integration will be implemented and validated.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Lecturer setup: link course, room and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72184"/>
            <a:ext cx="5559552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80136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737360"/>
            <a:ext cx="4599432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Choose an assigned course and a registered reader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642615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578608"/>
            <a:ext cx="4599432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Set a recurring weekday and class start/end time in Europe/Budapest.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483864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419856"/>
            <a:ext cx="4599432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When an institutional timetable feed is not available, the lecturer can configure the recurring slot 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32511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4261104"/>
            <a:ext cx="4599432" cy="7863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The register snapshots 15 minutes after the scheduled start; the 20-minute rule determines early departure.</a:t>
            </a:r>
          </a:p>
        </p:txBody>
      </p:sp>
      <p:pic>
        <p:nvPicPr>
          <p:cNvPr id="18" name="Picture 17" descr="09_lecturer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5" y="2049089"/>
            <a:ext cx="3813045" cy="34456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DEMO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Hardware-free walkthrough: virtual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444752"/>
            <a:ext cx="5056632" cy="4809744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emo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98" y="1481328"/>
            <a:ext cx="3231539" cy="47365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89320" y="178308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719072"/>
            <a:ext cx="5102352" cy="7680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Synthetic active and revoked student cards make the scenarios repeatable.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606039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2542032"/>
            <a:ext cx="5102352" cy="7680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virtual clock advances independently of wall-clock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428999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3364991"/>
            <a:ext cx="5102352" cy="7680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A two-slot sequence makes waiting, official snapshot and next-class carryover 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25196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4187952"/>
            <a:ext cx="5102352" cy="7680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This is a process demonstration only; no physical RFID reader or card radio exchange is connected.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Before the official snapshot: waiting is provisional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499616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waiting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6398"/>
            <a:ext cx="5166360" cy="13409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18504" y="1499616"/>
            <a:ext cx="523951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exit_before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6398"/>
            <a:ext cx="5166360" cy="13409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977639"/>
            <a:ext cx="5074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8233F"/>
                </a:solidFill>
                <a:latin typeface="Aptos"/>
              </a:defRPr>
            </a:pPr>
            <a:r>
              <a:t>07:55 entry -&gt; waiting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5029200" cy="10789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The 08:00 class is not official yet. An early arrival remains provisional rather than being counted immediately.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77639"/>
            <a:ext cx="48006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8233F"/>
                </a:solidFill>
                <a:latin typeface="Aptos"/>
              </a:defRPr>
            </a:pPr>
            <a:r>
              <a:t>Exit before snapshot -&gt;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89120"/>
            <a:ext cx="4754880" cy="10789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Sam leaves at 08:00. Because Sam is no longer in the room at 08:15, the student is not added to that class register.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08:15 snapshot: occupants become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1792224"/>
            <a:ext cx="6748272" cy="213055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snapshot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1193"/>
            <a:ext cx="6675120" cy="17326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755648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2011680"/>
            <a:ext cx="2057400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2043684"/>
            <a:ext cx="1911095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OFFICIAL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542032"/>
            <a:ext cx="292608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8233F"/>
                </a:solidFill>
                <a:latin typeface="Aptos"/>
              </a:defRPr>
            </a:pPr>
            <a:r>
              <a:t>At 08:15, Alex is still in the room and is classified Present in the 08:00 register.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snapshot is scheduled start + 15 minutes. It evaluates current room occupancy for that class; it is not a manual lecturer roll 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Late arrivals and early departures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517904"/>
            <a:ext cx="5925312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late_and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829518"/>
            <a:ext cx="5852160" cy="15190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0" y="1664208"/>
            <a:ext cx="4434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50608" y="1874519"/>
            <a:ext cx="868680" cy="292608"/>
          </a:xfrm>
          <a:prstGeom prst="roundRect">
            <a:avLst/>
          </a:prstGeom>
          <a:solidFill>
            <a:srgbClr val="D2911E"/>
          </a:solidFill>
          <a:ln>
            <a:solidFill>
              <a:srgbClr val="D2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906524"/>
            <a:ext cx="722375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331720"/>
            <a:ext cx="3749039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Sam enters at 08:20, after the 08:00 class start, and is marked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611880"/>
            <a:ext cx="4434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50608" y="3822191"/>
            <a:ext cx="1325880" cy="292608"/>
          </a:xfrm>
          <a:prstGeom prst="roundRect">
            <a:avLst/>
          </a:prstGeom>
          <a:solidFill>
            <a:srgbClr val="B93C37"/>
          </a:solidFill>
          <a:ln>
            <a:solidFill>
              <a:srgbClr val="B9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854196"/>
            <a:ext cx="117957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LEFT 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4297680"/>
            <a:ext cx="3749039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Alex exits at 08:15, only 15 minutes after the scheduled start, and is marked Left early (&lt;20 minutes).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A student still inside at the next class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27632"/>
            <a:ext cx="6473952" cy="249631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next_slot_wai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45083"/>
            <a:ext cx="6400800" cy="16614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60920" y="1828800"/>
            <a:ext cx="3886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2084831"/>
            <a:ext cx="822960" cy="292608"/>
          </a:xfrm>
          <a:prstGeom prst="roundRect">
            <a:avLst/>
          </a:prstGeom>
          <a:solidFill>
            <a:srgbClr val="08233F"/>
          </a:solidFill>
          <a:ln>
            <a:solidFill>
              <a:srgbClr val="08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16836"/>
            <a:ext cx="67665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09:00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78608"/>
            <a:ext cx="324612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Sam did not exit before the 09:00 slot. Sam carries into the next class as Waiting until its official snapshot.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241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8233F"/>
                </a:solidFill>
                <a:latin typeface="Aptos"/>
              </a:defRPr>
            </a:pPr>
            <a:r>
              <a:t>No manual re-entry is needed for the carryover case. The active course is resolved by the room schedule.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09:15 snapshot: carryover becomes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563624"/>
            <a:ext cx="6656832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carryover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980200"/>
            <a:ext cx="6583680" cy="170887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1810512"/>
            <a:ext cx="3749039" cy="1965960"/>
          </a:xfrm>
          <a:prstGeom prst="roundRect">
            <a:avLst/>
          </a:prstGeom>
          <a:solidFill>
            <a:srgbClr val="E2F6F1"/>
          </a:solidFill>
          <a:ln>
            <a:solidFill>
              <a:srgbClr val="E2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10896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08233F"/>
                </a:solidFill>
                <a:latin typeface="Aptos"/>
              </a:defRPr>
            </a:pPr>
            <a:r>
              <a:t>Sam remains in the room at 09:15 and is now Present in the 09:00 register.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2412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old class and new class have distinct schedule windows and snapshot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Invalid or revoked card: reject and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44752"/>
            <a:ext cx="519379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84708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83080"/>
            <a:ext cx="4690872" cy="886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A tap with a revoked or unknown card is rejected; it must not enter the attendance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724912"/>
            <a:ext cx="4690872" cy="886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The reader event list records a rejected result for traceability.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3075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666744"/>
            <a:ext cx="4690872" cy="886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In this demo, Taylor is synthetic and the credential is intentionally revoked.</a:t>
            </a:r>
          </a:p>
        </p:txBody>
      </p:sp>
      <p:pic>
        <p:nvPicPr>
          <p:cNvPr id="16" name="Picture 15" descr="08_revoked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333" y="2122795"/>
            <a:ext cx="2168709" cy="3215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ROOM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Reader display: live room occupancy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44752"/>
            <a:ext cx="5879592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room_r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21160"/>
            <a:ext cx="5806440" cy="364661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20840" y="180136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1737360"/>
            <a:ext cx="437083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Connect the kiosk page with the registered reader ID and API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65176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7" y="2587752"/>
            <a:ext cx="437083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Reader state refreshes every five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502151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3438144"/>
            <a:ext cx="437083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Waiting, Present, Late and Left lists are shown for the active scheduled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352544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4288536"/>
            <a:ext cx="437083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The page includes a manual test tap for hardware-free checks; deployed gateways should post taps to the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LECTURER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Lecturer course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44752"/>
            <a:ext cx="5696712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lectur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78587"/>
            <a:ext cx="5623560" cy="35317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177393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1709928"/>
            <a:ext cx="450799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Open the Teacher Dashboard and choose the semester and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62432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2560320"/>
            <a:ext cx="450799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Use RFID Schedules to create or disable recurring room time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47472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410712"/>
            <a:ext cx="450799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Start Session is part of the existing live QR workflow; it is separate from the scheduled RFID register.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32511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4261104"/>
            <a:ext cx="4507992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2A3A"/>
                </a:solidFill>
                <a:latin typeface="Aptos"/>
              </a:defRPr>
            </a:pPr>
            <a:r>
              <a:t>The current lecturer page does not display the signed-in user name/email in its header.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EXPORT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How a lecturer downloads the attendance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536192"/>
            <a:ext cx="5559552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live_session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4497"/>
            <a:ext cx="5486400" cy="34456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600200"/>
            <a:ext cx="48006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874519"/>
            <a:ext cx="42062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8233F"/>
                </a:solidFill>
                <a:latin typeface="Aptos"/>
              </a:defRPr>
            </a:pPr>
            <a:r>
              <a:t>Current Live QR session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272" y="245973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395728"/>
            <a:ext cx="3959352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Open the live session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308152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3959352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Select Export in the upper-right of the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370332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639312"/>
            <a:ext cx="3959352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The browser downloads a CSV for that session.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B93C37"/>
                </a:solidFill>
                <a:latin typeface="Aptos"/>
              </a:defRPr>
            </a:pPr>
            <a:r>
              <a:t>Important: scheduled RFID registers do not yet have a dedicated lecturer export control. Do not use the QR export as if it were the RFID schedule export.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SCENARIO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Use cases covered by the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10835640" cy="502920"/>
          </a:xfrm>
          <a:prstGeom prst="roundRect">
            <a:avLst/>
          </a:prstGeom>
          <a:solidFill>
            <a:srgbClr val="08233F"/>
          </a:solidFill>
          <a:ln>
            <a:solidFill>
              <a:srgbClr val="08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82496"/>
            <a:ext cx="2971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682496"/>
            <a:ext cx="7040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EXPECTED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76272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Arrives before 08:00 / remains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267712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Waiting before the 08:15 snapshot; Present if still inside at snapshot.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52344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62072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Leaves before official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43784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Removed from the waiting pool; not recorded as present.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28415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Arrives after scheduled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419856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Marked Late when included in the class register.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04487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14215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Leaves in under 20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995927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Marked Left early.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0560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Stays into next scheduled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572000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Carries into next slot as Waiting; Present if still inside at next snapshot.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56631"/>
            <a:ext cx="10835640" cy="521207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59"/>
            <a:ext cx="2971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8233F"/>
                </a:solidFill>
                <a:latin typeface="Aptos"/>
              </a:defRPr>
            </a:pPr>
            <a:r>
              <a:t>Unknown/revoked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148071"/>
            <a:ext cx="7178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A3A"/>
                </a:solidFill>
                <a:latin typeface="Aptos"/>
              </a:defRPr>
            </a:pPr>
            <a:r>
              <a:t>Tap rejected and event logged.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SCOPE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What is demonstrated vs. still to implement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847088"/>
            <a:ext cx="1645920" cy="292608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79092"/>
            <a:ext cx="149961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DEMONSTRATED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45973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Recurring lecturer-configured course slots and room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1868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154680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Virtual entry/exit events and synthetic card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7764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913632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15-minute official snapshot, late/left outcomes and next-class carryover.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73659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672583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Room occupancy view and current Live QR session CSV export.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60020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28816" y="1847088"/>
            <a:ext cx="1874519" cy="292608"/>
          </a:xfrm>
          <a:prstGeom prst="roundRect">
            <a:avLst/>
          </a:prstGeom>
          <a:solidFill>
            <a:srgbClr val="D2911E"/>
          </a:solidFill>
          <a:ln>
            <a:solidFill>
              <a:srgbClr val="D2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879092"/>
            <a:ext cx="172821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NOT YET INTEGRATED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8816" y="245973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2395728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Physical RFID hardware and a deployed reader gateway are not connected in this demo.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8816" y="3218688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3" y="3154680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Compatible hardware integration is planned once devices are connected and available for testing.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8816" y="397764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3" y="3913632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Scheduled RFID attendance needs its own lecturer export/download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28816" y="4736592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3" y="4672583"/>
            <a:ext cx="4325112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A3A"/>
                </a:solidFill>
                <a:latin typeface="Aptos"/>
              </a:defRPr>
            </a:pPr>
            <a:r>
              <a:t>The signed-in identity is not currently shown in the lecturer dashboard header.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D978E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233F"/>
                </a:solidFill>
                <a:latin typeface="Aptos"/>
              </a:defRPr>
            </a:pPr>
            <a:r>
              <a:t>Test run: process checks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25296"/>
            <a:ext cx="11155680" cy="13716"/>
          </a:xfrm>
          <a:prstGeom prst="rect">
            <a:avLst/>
          </a:prstGeom>
          <a:solidFill>
            <a:srgbClr val="D5E0E7"/>
          </a:solidFill>
          <a:ln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8233F"/>
                </a:solidFill>
                <a:latin typeface="Aptos"/>
              </a:defRPr>
            </a:pPr>
            <a:r>
              <a:t>The browser walkthrough used a clean temporary database, synthetic learners and a virtual clock.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95727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331720"/>
            <a:ext cx="985723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Verified early arrival waiting, exit before snapshot, and 08:15 on-time snapshot.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108960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044952"/>
            <a:ext cx="985723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Verified an 08:20 late arrival and a 15-minute early departure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822191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3"/>
            <a:ext cx="985723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Verified 09:00 next-slot waiting and 09:15 carryover present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35424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471416"/>
            <a:ext cx="985723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Verified a revoked credential is rejected and visible in the reader event 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5248656"/>
            <a:ext cx="91440" cy="91440"/>
          </a:xfrm>
          <a:prstGeom prst="round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5184648"/>
            <a:ext cx="9857232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92A3A"/>
                </a:solidFill>
                <a:latin typeface="Aptos"/>
              </a:defRPr>
            </a:pPr>
            <a:r>
              <a:t>Captured separate lecturer schedule, course dashboard, live export control and room reader screenshots.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806440"/>
            <a:ext cx="10469880" cy="438912"/>
          </a:xfrm>
          <a:prstGeom prst="roundRect">
            <a:avLst/>
          </a:prstGeom>
          <a:solidFill>
            <a:srgbClr val="E2F6F1"/>
          </a:solidFill>
          <a:ln>
            <a:solidFill>
              <a:srgbClr val="E2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9788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8233F"/>
                </a:solidFill>
                <a:latin typeface="Aptos"/>
              </a:defRPr>
            </a:pPr>
            <a:r>
              <a:t>All people, cards, courses and times shown in the demo are synthetic.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78E"/>
          </a:solidFill>
          <a:ln>
            <a:solidFill>
              <a:srgbClr val="0D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515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9DECF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98755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Schedule-driven attendance is now demonstrable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9692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DCE8F0"/>
                </a:solidFill>
                <a:latin typeface="Aptos"/>
              </a:defRPr>
            </a:pPr>
            <a:r>
              <a:t>Lecturers define the class window; the room reader captures presence; the scheduled snapshot applies consistent attendance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9921240" cy="1097280"/>
          </a:xfrm>
          <a:prstGeom prst="roundRect">
            <a:avLst/>
          </a:prstGeom>
          <a:solidFill>
            <a:srgbClr val="103A55"/>
          </a:solidFill>
          <a:ln>
            <a:solidFill>
              <a:srgbClr val="10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53712"/>
            <a:ext cx="93268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Next: connect compatible RFID hardware, validate real-device events, and add a lecturer export for scheduled RFID registers.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E7082"/>
                </a:solidFill>
                <a:latin typeface="Aptos"/>
              </a:defRPr>
            </a:pPr>
            <a:r>
              <a:t>Smart Attendance System  |  Process guide  |  Demo data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3796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E70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