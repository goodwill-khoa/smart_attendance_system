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53035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65DCCD"/>
                </a:solidFill>
                <a:latin typeface="Aptos"/>
              </a:rPr>
              <a:t>PROJECT UPGRADE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5486400" cy="16916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Smart RFID</a:t>
            </a:r>
          </a:p>
          <a:p>
            <a:pPr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5303520" cy="7315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D2DDEB"/>
                </a:solidFill>
                <a:latin typeface="Aptos"/>
              </a:rPr>
              <a:t>Entry + exit tracking with a virtual-reader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87952"/>
            <a:ext cx="5166360" cy="8412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ABBED2"/>
                </a:solidFill>
                <a:latin typeface="Aptos"/>
              </a:rPr>
              <a:t>A hardware-free proof of concept built on the existing FastAPI + React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5779008"/>
            <a:ext cx="4023360" cy="420624"/>
          </a:xfrm>
          <a:prstGeom prst="round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5870448"/>
            <a:ext cx="3749039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RFID EVENT FLOW  -&gt;  SIMULATED HARDWARE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752" y="1770214"/>
            <a:ext cx="6047368" cy="337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669280"/>
            <a:ext cx="502920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BECCDC"/>
                </a:solidFill>
                <a:latin typeface="Aptos"/>
              </a:rPr>
              <a:t>Concept reference: reader options shown in the project concepts folder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1968E"/>
                </a:solidFill>
                <a:latin typeface="Aptos"/>
              </a:rPr>
              <a:t>THE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102039"/>
                </a:solidFill>
                <a:latin typeface="Aptos"/>
              </a:rPr>
              <a:t>From camera QR to card-tap attendance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4846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5B6B7D"/>
                </a:solidFill>
                <a:latin typeface="Aptos"/>
              </a:rPr>
              <a:t>SMART ATTENDANCE  |  RFID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5B6B7D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257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91072" y="1508760"/>
            <a:ext cx="5257800" cy="4434840"/>
          </a:xfrm>
          <a:prstGeom prst="roundRect">
            <a:avLst/>
          </a:prstGeom>
          <a:solidFill>
            <a:srgbClr val="DEF6F0"/>
          </a:solidFill>
          <a:ln w="12700">
            <a:solidFill>
              <a:srgbClr val="BD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201168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B69AE"/>
                </a:solidFill>
                <a:latin typeface="Aptos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57984"/>
            <a:ext cx="4480560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102039"/>
                </a:solidFill>
                <a:latin typeface="Aptos"/>
              </a:rPr>
              <a:t>Rotating QR 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16352"/>
            <a:ext cx="4526280" cy="2468880"/>
          </a:xfrm>
          <a:prstGeom prst="rect">
            <a:avLst/>
          </a:prstGeom>
          <a:noFill/>
        </p:spPr>
        <p:txBody>
          <a:bodyPr wrap="square" lIns="73152" tIns="18288" rIns="45720">
            <a:spAutoFit/>
          </a:bodyPr>
          <a:lstStyle/>
          <a:p>
            <a:pPr>
              <a:buChar char="?"/>
              <a:defRPr sz="1700">
                <a:solidFill>
                  <a:srgbClr val="1C2B3D"/>
                </a:solidFill>
                <a:latin typeface="Aptos"/>
              </a:defRPr>
            </a:pPr>
            <a:r>
              <a:t>Student signs in and scans a short-lived course QR token.</a:t>
            </a:r>
          </a:p>
          <a:p>
            <a:pPr>
              <a:buChar char="?"/>
              <a:defRPr sz="1700">
                <a:solidFill>
                  <a:srgbClr val="1C2B3D"/>
                </a:solidFill>
                <a:latin typeface="Aptos"/>
              </a:defRPr>
            </a:pPr>
            <a:r>
              <a:t>Browser device ID is used for duplicate prevention.</a:t>
            </a:r>
          </a:p>
          <a:p>
            <a:pPr>
              <a:buChar char="?"/>
              <a:defRPr sz="1700">
                <a:solidFill>
                  <a:srgbClr val="1C2B3D"/>
                </a:solidFill>
                <a:latin typeface="Aptos"/>
              </a:defRPr>
            </a:pPr>
            <a:r>
              <a:t>Attendance is currently an entry/presence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92224"/>
            <a:ext cx="201168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1968E"/>
                </a:solidFill>
                <a:latin typeface="Aptos"/>
              </a:rPr>
              <a:t>UPGRADE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57984"/>
            <a:ext cx="4480560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2300" b="1">
                <a:solidFill>
                  <a:srgbClr val="102039"/>
                </a:solidFill>
                <a:latin typeface="Aptos"/>
              </a:rPr>
              <a:t>RFID entry + exit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816352"/>
            <a:ext cx="4526280" cy="2468880"/>
          </a:xfrm>
          <a:prstGeom prst="rect">
            <a:avLst/>
          </a:prstGeom>
          <a:noFill/>
        </p:spPr>
        <p:txBody>
          <a:bodyPr wrap="square" lIns="73152" tIns="18288" rIns="45720">
            <a:spAutoFit/>
          </a:bodyPr>
          <a:lstStyle/>
          <a:p>
            <a:pPr>
              <a:buChar char="?"/>
              <a:defRPr sz="1700">
                <a:solidFill>
                  <a:srgbClr val="1C2B3D"/>
                </a:solidFill>
                <a:latin typeface="Aptos"/>
              </a:defRPr>
            </a:pPr>
            <a:r>
              <a:t>Reader tap resolves a card credential to a student on the server.</a:t>
            </a:r>
          </a:p>
          <a:p>
            <a:pPr>
              <a:buChar char="?"/>
              <a:defRPr sz="1700">
                <a:solidFill>
                  <a:srgbClr val="1C2B3D"/>
                </a:solidFill>
                <a:latin typeface="Aptos"/>
              </a:defRPr>
            </a:pPr>
            <a:r>
              <a:t>One entry and one exit event per student/session.</a:t>
            </a:r>
          </a:p>
          <a:p>
            <a:pPr>
              <a:buChar char="?"/>
              <a:defRPr sz="1700">
                <a:solidFill>
                  <a:srgbClr val="1C2B3D"/>
                </a:solidFill>
                <a:latin typeface="Aptos"/>
              </a:defRPr>
            </a:pPr>
            <a:r>
              <a:t>QR remains a temporary entry-only fallback.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1968E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102039"/>
                </a:solidFill>
                <a:latin typeface="Aptos"/>
              </a:rPr>
              <a:t>One attendance path, two reader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4846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5B6B7D"/>
                </a:solidFill>
                <a:latin typeface="Aptos"/>
              </a:rPr>
              <a:t>SMART ATTENDANCE  |  RFID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5B6B7D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10698480" cy="3931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B6B7D"/>
                </a:solidFill>
                <a:latin typeface="Aptos"/>
              </a:rPr>
              <a:t>The real-reader API and virtual simulator share the same validation and persistence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31720"/>
            <a:ext cx="175564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331720"/>
            <a:ext cx="1755648" cy="146304"/>
          </a:xfrm>
          <a:prstGeom prst="rect">
            <a:avLst/>
          </a:prstGeom>
          <a:solidFill>
            <a:srgbClr val="2B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670048"/>
            <a:ext cx="1536192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02039"/>
                </a:solidFill>
                <a:latin typeface="Aptos"/>
              </a:rPr>
              <a:t>Student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127248"/>
            <a:ext cx="1536192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B7D"/>
                </a:solidFill>
                <a:latin typeface="Aptos"/>
              </a:rPr>
              <a:t>opaque card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88920"/>
            <a:ext cx="4114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1968E"/>
                </a:solidFill>
                <a:latin typeface="Apto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4368" y="2331720"/>
            <a:ext cx="175564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44368" y="2331720"/>
            <a:ext cx="1755648" cy="146304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54096" y="2670048"/>
            <a:ext cx="1536192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02039"/>
                </a:solidFill>
                <a:latin typeface="Aptos"/>
              </a:rPr>
              <a:t>Reader / simulator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127248"/>
            <a:ext cx="1536192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B7D"/>
                </a:solidFill>
                <a:latin typeface="Aptos"/>
              </a:rPr>
              <a:t>authenticated tap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788920"/>
            <a:ext cx="4114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1968E"/>
                </a:solidFill>
                <a:latin typeface="Apto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2331720"/>
            <a:ext cx="175564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30368" y="2331720"/>
            <a:ext cx="1755648" cy="146304"/>
          </a:xfrm>
          <a:prstGeom prst="rect">
            <a:avLst/>
          </a:prstGeom>
          <a:solidFill>
            <a:srgbClr val="10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0096" y="2670048"/>
            <a:ext cx="1536192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02039"/>
                </a:solidFill>
                <a:latin typeface="Aptos"/>
              </a:rPr>
              <a:t>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127248"/>
            <a:ext cx="1536192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B7D"/>
                </a:solidFill>
                <a:latin typeface="Aptos"/>
              </a:rPr>
              <a:t>card + session + roster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2788920"/>
            <a:ext cx="4114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1968E"/>
                </a:solidFill>
                <a:latin typeface="Aptos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16368" y="2331720"/>
            <a:ext cx="175564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16368" y="2331720"/>
            <a:ext cx="1755648" cy="146304"/>
          </a:xfrm>
          <a:prstGeom prst="rect">
            <a:avLst/>
          </a:prstGeom>
          <a:solidFill>
            <a:srgbClr val="647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26096" y="2670048"/>
            <a:ext cx="1536192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02039"/>
                </a:solidFill>
                <a:latin typeface="Aptos"/>
              </a:rP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127248"/>
            <a:ext cx="1536192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B7D"/>
                </a:solidFill>
                <a:latin typeface="Aptos"/>
              </a:rPr>
              <a:t>credential + event +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788920"/>
            <a:ext cx="4114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1968E"/>
                </a:solidFill>
                <a:latin typeface="Aptos"/>
              </a:rP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8" y="2331720"/>
            <a:ext cx="175564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802368" y="2331720"/>
            <a:ext cx="1755648" cy="146304"/>
          </a:xfrm>
          <a:prstGeom prst="rect">
            <a:avLst/>
          </a:prstGeom>
          <a:solidFill>
            <a:srgbClr val="E8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12096" y="2670048"/>
            <a:ext cx="1536192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02039"/>
                </a:solidFill>
                <a:latin typeface="Aptos"/>
              </a:rPr>
              <a:t>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3127248"/>
            <a:ext cx="1536192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B7D"/>
                </a:solidFill>
                <a:latin typeface="Aptos"/>
              </a:rPr>
              <a:t>entry / exit / source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315968"/>
            <a:ext cx="4526280" cy="1051560"/>
          </a:xfrm>
          <a:prstGeom prst="roundRect">
            <a:avLst/>
          </a:prstGeom>
          <a:solidFill>
            <a:srgbClr val="E6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25880" y="4498848"/>
            <a:ext cx="128016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B69AE"/>
                </a:solidFill>
                <a:latin typeface="Aptos"/>
              </a:rPr>
              <a:t>REAL READER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846320"/>
            <a:ext cx="3840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C2B3D"/>
                </a:solidFill>
                <a:latin typeface="Aptos"/>
              </a:rPr>
              <a:t>X-Reader-ID + X-Reader-Key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315968"/>
            <a:ext cx="4526280" cy="1051560"/>
          </a:xfrm>
          <a:prstGeom prst="roundRect">
            <a:avLst/>
          </a:prstGeom>
          <a:solidFill>
            <a:srgbClr val="DE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29400" y="4498848"/>
            <a:ext cx="16459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1968E"/>
                </a:solidFill>
                <a:latin typeface="Aptos"/>
              </a:rPr>
              <a:t>VIRTUAL READER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846320"/>
            <a:ext cx="3886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C2B3D"/>
                </a:solidFill>
                <a:latin typeface="Aptos"/>
              </a:rPr>
              <a:t>Local demo UI -&gt; same event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1968E"/>
                </a:solidFill>
                <a:latin typeface="Aptos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102039"/>
                </a:solidFill>
                <a:latin typeface="Aptos"/>
              </a:rPr>
              <a:t>Keep identity, card, and event data separate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4846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5B6B7D"/>
                </a:solidFill>
                <a:latin typeface="Aptos"/>
              </a:rPr>
              <a:t>SMART ATTENDANCE  |  RFID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5B6B7D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572768"/>
            <a:ext cx="265176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572768"/>
            <a:ext cx="2651760" cy="164592"/>
          </a:xfrm>
          <a:prstGeom prst="rect">
            <a:avLst/>
          </a:prstGeom>
          <a:solidFill>
            <a:srgbClr val="2B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2331720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2039"/>
                </a:solidFill>
                <a:latin typeface="Aptos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61488"/>
            <a:ext cx="2340864" cy="2514600"/>
          </a:xfrm>
          <a:prstGeom prst="rect">
            <a:avLst/>
          </a:prstGeom>
          <a:noFill/>
        </p:spPr>
        <p:txBody>
          <a:bodyPr wrap="square" lIns="73152" tIns="18288" rIns="45720">
            <a:spAutoFit/>
          </a:bodyPr>
          <a:lstStyle/>
          <a:p>
            <a:pPr>
              <a:buChar char="?"/>
              <a:defRPr sz="1300">
                <a:solidFill>
                  <a:srgbClr val="1C2B3D"/>
                </a:solidFill>
                <a:latin typeface="Aptos"/>
              </a:defRPr>
            </a:pPr>
            <a:r>
              <a:t>ELTE identity and role</a:t>
            </a:r>
          </a:p>
          <a:p>
            <a:pPr>
              <a:buChar char="?"/>
              <a:defRPr sz="1300">
                <a:solidFill>
                  <a:srgbClr val="1C2B3D"/>
                </a:solidFill>
                <a:latin typeface="Aptos"/>
              </a:defRPr>
            </a:pPr>
            <a:r>
              <a:t>Course roster remains authoritative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572768"/>
            <a:ext cx="265176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11296" y="1572768"/>
            <a:ext cx="2651760" cy="164592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1938528"/>
            <a:ext cx="2331720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2039"/>
                </a:solidFill>
                <a:latin typeface="Aptos"/>
              </a:rPr>
              <a:t>StudentCardCredential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761488"/>
            <a:ext cx="2340864" cy="2514600"/>
          </a:xfrm>
          <a:prstGeom prst="rect">
            <a:avLst/>
          </a:prstGeom>
          <a:noFill/>
        </p:spPr>
        <p:txBody>
          <a:bodyPr wrap="square" lIns="73152" tIns="18288" rIns="45720">
            <a:spAutoFit/>
          </a:bodyPr>
          <a:lstStyle/>
          <a:p>
            <a:pPr>
              <a:buChar char="?"/>
              <a:defRPr sz="1300">
                <a:solidFill>
                  <a:srgbClr val="1C2B3D"/>
                </a:solidFill>
                <a:latin typeface="Aptos"/>
              </a:defRPr>
            </a:pPr>
            <a:r>
              <a:t>user_id + keyed HMAC</a:t>
            </a:r>
          </a:p>
          <a:p>
            <a:pPr>
              <a:buChar char="?"/>
              <a:defRPr sz="1300">
                <a:solidFill>
                  <a:srgbClr val="1C2B3D"/>
                </a:solidFill>
                <a:latin typeface="Aptos"/>
              </a:defRPr>
            </a:pPr>
            <a:r>
              <a:t>active / revoked timestamps</a:t>
            </a:r>
          </a:p>
          <a:p>
            <a:pPr>
              <a:buChar char="?"/>
              <a:defRPr sz="1300">
                <a:solidFill>
                  <a:srgbClr val="1C2B3D"/>
                </a:solidFill>
                <a:latin typeface="Aptos"/>
              </a:defRPr>
            </a:pPr>
            <a:r>
              <a:t>raw card ID is not stored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72768"/>
            <a:ext cx="265176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572768"/>
            <a:ext cx="2651760" cy="164592"/>
          </a:xfrm>
          <a:prstGeom prst="rect">
            <a:avLst/>
          </a:prstGeom>
          <a:solidFill>
            <a:srgbClr val="10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1938528"/>
            <a:ext cx="2331720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2039"/>
                </a:solidFill>
                <a:latin typeface="Aptos"/>
              </a:rPr>
              <a:t>RfidReader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61488"/>
            <a:ext cx="2340864" cy="2514600"/>
          </a:xfrm>
          <a:prstGeom prst="rect">
            <a:avLst/>
          </a:prstGeom>
          <a:noFill/>
        </p:spPr>
        <p:txBody>
          <a:bodyPr wrap="square" lIns="73152" tIns="18288" rIns="45720">
            <a:spAutoFit/>
          </a:bodyPr>
          <a:lstStyle/>
          <a:p>
            <a:pPr>
              <a:buChar char="?"/>
              <a:defRPr sz="1300">
                <a:solidFill>
                  <a:srgbClr val="1C2B3D"/>
                </a:solidFill>
                <a:latin typeface="Aptos"/>
              </a:defRPr>
            </a:pPr>
            <a:r>
              <a:t>reader ID + hashed API key</a:t>
            </a:r>
          </a:p>
          <a:p>
            <a:pPr>
              <a:buChar char="?"/>
              <a:defRPr sz="1300">
                <a:solidFill>
                  <a:srgbClr val="1C2B3D"/>
                </a:solidFill>
                <a:latin typeface="Aptos"/>
              </a:defRPr>
            </a:pPr>
            <a:r>
              <a:t>active state; key shown once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1572768"/>
            <a:ext cx="265176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90304" y="1572768"/>
            <a:ext cx="2651760" cy="164592"/>
          </a:xfrm>
          <a:prstGeom prst="rect">
            <a:avLst/>
          </a:prstGeom>
          <a:solidFill>
            <a:srgbClr val="E8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45752" y="1938528"/>
            <a:ext cx="2331720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2039"/>
                </a:solidFill>
                <a:latin typeface="Aptos"/>
              </a:rPr>
              <a:t>AttendanceEvent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2761488"/>
            <a:ext cx="2340864" cy="2514600"/>
          </a:xfrm>
          <a:prstGeom prst="rect">
            <a:avLst/>
          </a:prstGeom>
          <a:noFill/>
        </p:spPr>
        <p:txBody>
          <a:bodyPr wrap="square" lIns="73152" tIns="18288" rIns="45720">
            <a:spAutoFit/>
          </a:bodyPr>
          <a:lstStyle/>
          <a:p>
            <a:pPr>
              <a:buChar char="?"/>
              <a:defRPr sz="1300">
                <a:solidFill>
                  <a:srgbClr val="1C2B3D"/>
                </a:solidFill>
                <a:latin typeface="Aptos"/>
              </a:defRPr>
            </a:pPr>
            <a:r>
              <a:t>session + user + ENTRY/EXIT</a:t>
            </a:r>
          </a:p>
          <a:p>
            <a:pPr>
              <a:buChar char="?"/>
              <a:defRPr sz="1300">
                <a:solidFill>
                  <a:srgbClr val="1C2B3D"/>
                </a:solidFill>
                <a:latin typeface="Aptos"/>
              </a:defRPr>
            </a:pPr>
            <a:r>
              <a:t>source + reader + server time</a:t>
            </a:r>
          </a:p>
          <a:p>
            <a:pPr>
              <a:buChar char="?"/>
              <a:defRPr sz="1300">
                <a:solidFill>
                  <a:srgbClr val="1C2B3D"/>
                </a:solidFill>
                <a:latin typeface="Aptos"/>
              </a:defRPr>
            </a:pPr>
            <a:r>
              <a:t>unique event type per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108192"/>
            <a:ext cx="10789920" cy="2468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5B6B7D"/>
                </a:solidFill>
                <a:latin typeface="Aptos"/>
              </a:rPr>
              <a:t>AttendanceLog remains the per-student/session summary and now holds checked_out_at +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1968E"/>
                </a:solidFill>
                <a:latin typeface="Aptos"/>
              </a:rPr>
              <a:t>ATTENDANCE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102039"/>
                </a:solidFill>
                <a:latin typeface="Aptos"/>
              </a:rPr>
              <a:t>Entry and exit are explicit, ordered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4846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5B6B7D"/>
                </a:solidFill>
                <a:latin typeface="Aptos"/>
              </a:rPr>
              <a:t>SMART ATTENDANCE  |  RFID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5B6B7D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84831"/>
            <a:ext cx="1938528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" y="2267712"/>
            <a:ext cx="420624" cy="420624"/>
          </a:xfrm>
          <a:prstGeom prst="round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3" y="2386584"/>
            <a:ext cx="36576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52928"/>
            <a:ext cx="164592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2039"/>
                </a:solidFill>
                <a:latin typeface="Aptos"/>
              </a:rPr>
              <a:t>Tap at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310128"/>
            <a:ext cx="1645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B7D"/>
                </a:solidFill>
                <a:latin typeface="Aptos"/>
              </a:rPr>
              <a:t>Reader sends card ID, session, ENTRY.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834640"/>
            <a:ext cx="29260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11968E"/>
                </a:solidFill>
                <a:latin typeface="Apto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4368" y="2084831"/>
            <a:ext cx="1938528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90672" y="2267712"/>
            <a:ext cx="420624" cy="420624"/>
          </a:xfrm>
          <a:prstGeom prst="roundRect">
            <a:avLst/>
          </a:prstGeom>
          <a:solidFill>
            <a:srgbClr val="2B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8103" y="2386584"/>
            <a:ext cx="36576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852928"/>
            <a:ext cx="164592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2039"/>
                </a:solidFill>
                <a:latin typeface="Apto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310128"/>
            <a:ext cx="1645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B7D"/>
                </a:solidFill>
                <a:latin typeface="Aptos"/>
              </a:rPr>
              <a:t>Reader + card + session + student + roster.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3" y="2834640"/>
            <a:ext cx="29260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11968E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368" y="2084831"/>
            <a:ext cx="1938528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76672" y="2267712"/>
            <a:ext cx="420624" cy="420624"/>
          </a:xfrm>
          <a:prstGeom prst="roundRect">
            <a:avLst/>
          </a:prstGeom>
          <a:solidFill>
            <a:srgbClr val="2B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04104" y="2386584"/>
            <a:ext cx="36576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2852928"/>
            <a:ext cx="164592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2039"/>
                </a:solidFill>
                <a:latin typeface="Aptos"/>
              </a:rPr>
              <a:t>Record 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3310128"/>
            <a:ext cx="1645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B7D"/>
                </a:solidFill>
                <a:latin typeface="Aptos"/>
              </a:rPr>
              <a:t>Create attendance summary and ENTRY event.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3" y="2834640"/>
            <a:ext cx="29260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11968E"/>
                </a:solidFill>
                <a:latin typeface="Aptos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6368" y="2084831"/>
            <a:ext cx="1938528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62672" y="2267712"/>
            <a:ext cx="420624" cy="420624"/>
          </a:xfrm>
          <a:prstGeom prst="roundRect">
            <a:avLst/>
          </a:prstGeom>
          <a:solidFill>
            <a:srgbClr val="2B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90104" y="2386584"/>
            <a:ext cx="36576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2852928"/>
            <a:ext cx="164592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2039"/>
                </a:solidFill>
                <a:latin typeface="Aptos"/>
              </a:rPr>
              <a:t>Tap at exit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3310128"/>
            <a:ext cx="1645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B7D"/>
                </a:solidFill>
                <a:latin typeface="Aptos"/>
              </a:rPr>
              <a:t>Same card sends EXIT for that session.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834640"/>
            <a:ext cx="292608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11968E"/>
                </a:solidFill>
                <a:latin typeface="Aptos"/>
              </a:rP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02368" y="2084831"/>
            <a:ext cx="1938528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948672" y="2267712"/>
            <a:ext cx="420624" cy="420624"/>
          </a:xfrm>
          <a:prstGeom prst="round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76104" y="2386584"/>
            <a:ext cx="36576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2852928"/>
            <a:ext cx="164592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2039"/>
                </a:solidFill>
                <a:latin typeface="Aptos"/>
              </a:rPr>
              <a:t>Record 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8672" y="3310128"/>
            <a:ext cx="1645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B6B7D"/>
                </a:solidFill>
                <a:latin typeface="Aptos"/>
              </a:rPr>
              <a:t>Require entry; set checked_out_at; append event.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" y="4892040"/>
            <a:ext cx="10149840" cy="777240"/>
          </a:xfrm>
          <a:prstGeom prst="roundRect">
            <a:avLst/>
          </a:prstGeom>
          <a:solidFill>
            <a:srgbClr val="FFF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61872" y="5129784"/>
            <a:ext cx="964692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C2B3D"/>
                </a:solidFill>
                <a:latin typeface="Aptos"/>
              </a:rPr>
              <a:t>Second entry, exit-before-entry, second exit, revoked/unknown card, and closed-session taps are rejected.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1968E"/>
                </a:solidFill>
                <a:latin typeface="Aptos"/>
              </a:rPr>
              <a:t>VIRTUAL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102039"/>
                </a:solidFill>
                <a:latin typeface="Aptos"/>
              </a:rPr>
              <a:t>Demo run: no physical hardware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4846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5B6B7D"/>
                </a:solidFill>
                <a:latin typeface="Aptos"/>
              </a:rPr>
              <a:t>SMART ATTENDANCE  |  RFID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5B6B7D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4892040" cy="4526280"/>
          </a:xfrm>
          <a:prstGeom prst="roundRect">
            <a:avLst/>
          </a:prstGeom>
          <a:solidFill>
            <a:srgbClr val="10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47088"/>
            <a:ext cx="219456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5DCCD"/>
                </a:solidFill>
                <a:latin typeface="Aptos"/>
              </a:rPr>
              <a:t>LOCAL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4224528" cy="8229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RFID_CREDENTIAL_HMAC_KEY=your-random-secret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RFID_SIMULATOR_ENABLED=true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420624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Open /rfid-demo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33087"/>
            <a:ext cx="4160520" cy="9144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D2DDEB"/>
                </a:solidFill>
                <a:latin typeface="Aptos"/>
              </a:rPr>
              <a:t>Prepare schedule demo; tap virtual cards and advance the clock through 08:15.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5074920" cy="3611880"/>
          </a:xfrm>
          <a:prstGeom prst="rect">
            <a:avLst/>
          </a:prstGeom>
          <a:noFill/>
        </p:spPr>
        <p:txBody>
          <a:bodyPr wrap="square" lIns="73152" tIns="18288" rIns="45720">
            <a:spAutoFit/>
          </a:bodyPr>
          <a:lstStyle/>
          <a:p>
            <a:pPr>
              <a:buChar char="?"/>
              <a:defRPr sz="1700">
                <a:solidFill>
                  <a:srgbClr val="1C2B3D"/>
                </a:solidFill>
                <a:latin typeface="Aptos"/>
              </a:defRPr>
            </a:pPr>
            <a:r>
              <a:t>08:00 and 09:00 class slots; virtual clock starts 07:55</a:t>
            </a:r>
          </a:p>
          <a:p>
            <a:pPr>
              <a:buChar char="?"/>
              <a:defRPr sz="1700">
                <a:solidFill>
                  <a:srgbClr val="1C2B3D"/>
                </a:solidFill>
                <a:latin typeface="Aptos"/>
              </a:defRPr>
            </a:pPr>
            <a:r>
              <a:t>Exit before snapshot: removed from waiting list</a:t>
            </a:r>
          </a:p>
          <a:p>
            <a:pPr>
              <a:buChar char="?"/>
              <a:defRPr sz="1700">
                <a:solidFill>
                  <a:srgbClr val="1C2B3D"/>
                </a:solidFill>
                <a:latin typeface="Aptos"/>
              </a:defRPr>
            </a:pPr>
            <a:r>
              <a:t>Entry after snapshot: marked late</a:t>
            </a:r>
          </a:p>
          <a:p>
            <a:pPr>
              <a:buChar char="?"/>
              <a:defRPr sz="1700">
                <a:solidFill>
                  <a:srgbClr val="1C2B3D"/>
                </a:solidFill>
                <a:latin typeface="Aptos"/>
              </a:defRPr>
            </a:pPr>
            <a:r>
              <a:t>Exit before 08:20: left early (20 min from 08:00)</a:t>
            </a:r>
          </a:p>
          <a:p>
            <a:pPr>
              <a:buChar char="?"/>
              <a:defRPr sz="1700">
                <a:solidFill>
                  <a:srgbClr val="1C2B3D"/>
                </a:solidFill>
                <a:latin typeface="Aptos"/>
              </a:defRPr>
            </a:pPr>
            <a:r>
              <a:t>Remain in room: carryover to next class 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5632704"/>
            <a:ext cx="51206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1968E"/>
                </a:solidFill>
                <a:latin typeface="Aptos"/>
              </a:rPr>
              <a:t>Synthetic students only; no physical hardware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1968E"/>
                </a:solidFill>
                <a:latin typeface="Aptos"/>
              </a:rP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102039"/>
                </a:solidFill>
                <a:latin typeface="Aptos"/>
              </a:rPr>
              <a:t>Security and privacy are part of the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4846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5B6B7D"/>
                </a:solidFill>
                <a:latin typeface="Aptos"/>
              </a:rPr>
              <a:t>SMART ATTENDANCE  |  RFID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5B6B7D"/>
                </a:solidFill>
                <a:latin typeface="Apto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536192"/>
            <a:ext cx="146304" cy="603504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563624"/>
            <a:ext cx="23317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02039"/>
                </a:solidFill>
                <a:latin typeface="Aptos"/>
              </a:rPr>
              <a:t>Minimize card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63624"/>
            <a:ext cx="754380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2B3D"/>
                </a:solidFill>
                <a:latin typeface="Aptos"/>
              </a:rPr>
              <a:t>Store a keyed HMAC; do not retain raw UID or personal details on the card.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395728"/>
            <a:ext cx="146304" cy="603504"/>
          </a:xfrm>
          <a:prstGeom prst="rect">
            <a:avLst/>
          </a:prstGeom>
          <a:solidFill>
            <a:srgbClr val="2B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423160"/>
            <a:ext cx="23317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02039"/>
                </a:solidFill>
                <a:latin typeface="Aptos"/>
              </a:rPr>
              <a:t>Authenticate readers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23160"/>
            <a:ext cx="754380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2B3D"/>
                </a:solidFill>
                <a:latin typeface="Aptos"/>
              </a:rPr>
              <a:t>Provision per-reader random API keys; store only the key hash.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255263"/>
            <a:ext cx="146304" cy="603504"/>
          </a:xfrm>
          <a:prstGeom prst="rect">
            <a:avLst/>
          </a:prstGeom>
          <a:solidFill>
            <a:srgbClr val="10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282695"/>
            <a:ext cx="23317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02039"/>
                </a:solidFill>
                <a:latin typeface="Aptos"/>
              </a:rPr>
              <a:t>Validate server-side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282695"/>
            <a:ext cx="754380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2B3D"/>
                </a:solidFill>
                <a:latin typeface="Aptos"/>
              </a:rPr>
              <a:t>Check active session, student role, roster, credential state, and event order.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4114800"/>
            <a:ext cx="146304" cy="603504"/>
          </a:xfrm>
          <a:prstGeom prst="rect">
            <a:avLst/>
          </a:prstGeom>
          <a:solidFill>
            <a:srgbClr val="C54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4142232"/>
            <a:ext cx="23317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02039"/>
                </a:solidFill>
                <a:latin typeface="Aptos"/>
              </a:rPr>
              <a:t>Be honest about UID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142232"/>
            <a:ext cx="754380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2B3D"/>
                </a:solidFill>
                <a:latin typeface="Aptos"/>
              </a:rPr>
              <a:t>A static card UID can be cloned; stronger assurance needs secure challenge-response cards.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4974336"/>
            <a:ext cx="146304" cy="603504"/>
          </a:xfrm>
          <a:prstGeom prst="rect">
            <a:avLst/>
          </a:prstGeom>
          <a:solidFill>
            <a:srgbClr val="E8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5001768"/>
            <a:ext cx="23317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02039"/>
                </a:solidFill>
                <a:latin typeface="Aptos"/>
              </a:rPr>
              <a:t>Constrain demo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001768"/>
            <a:ext cx="754380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2B3D"/>
                </a:solidFill>
                <a:latin typeface="Aptos"/>
              </a:rPr>
              <a:t>Simulator is disabled by default and uses synthetic students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1968E"/>
                </a:solidFill>
                <a:latin typeface="Aptos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102039"/>
                </a:solidFill>
                <a:latin typeface="Aptos"/>
              </a:rPr>
              <a:t>What the upgrade demonstrates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4846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5B6B7D"/>
                </a:solidFill>
                <a:latin typeface="Aptos"/>
              </a:rPr>
              <a:t>SMART ATTENDANCE  |  RFID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5B6B7D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72768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3891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1968E"/>
                </a:solidFill>
                <a:latin typeface="Aptos"/>
              </a:rPr>
              <a:t>IMPLEMENTED IN THIS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95728"/>
            <a:ext cx="4343400" cy="2971800"/>
          </a:xfrm>
          <a:prstGeom prst="rect">
            <a:avLst/>
          </a:prstGeom>
          <a:noFill/>
        </p:spPr>
        <p:txBody>
          <a:bodyPr wrap="square" lIns="73152" tIns="18288" rIns="45720">
            <a:spAutoFit/>
          </a:bodyPr>
          <a:lstStyle/>
          <a:p>
            <a:pPr>
              <a:buChar char="?"/>
              <a:defRPr sz="1500">
                <a:solidFill>
                  <a:srgbClr val="1C2B3D"/>
                </a:solidFill>
                <a:latin typeface="Aptos"/>
              </a:defRPr>
            </a:pPr>
            <a:r>
              <a:t>Recurring course schedules with room-bound readers.</a:t>
            </a:r>
          </a:p>
          <a:p>
            <a:pPr>
              <a:buChar char="?"/>
              <a:defRPr sz="1500">
                <a:solidFill>
                  <a:srgbClr val="1C2B3D"/>
                </a:solidFill>
                <a:latin typeface="Aptos"/>
              </a:defRPr>
            </a:pPr>
            <a:r>
              <a:t>15-minute snapshot, waiting/present/late/left states, and next-class carryover.</a:t>
            </a:r>
          </a:p>
          <a:p>
            <a:pPr>
              <a:buChar char="?"/>
              <a:defRPr sz="1500">
                <a:solidFill>
                  <a:srgbClr val="1C2B3D"/>
                </a:solidFill>
                <a:latin typeface="Aptos"/>
              </a:defRPr>
            </a:pPr>
            <a:r>
              <a:t>20-minute early-exit rule; event history and register source are retained.</a:t>
            </a:r>
          </a:p>
          <a:p>
            <a:pPr>
              <a:buChar char="?"/>
              <a:defRPr sz="1500">
                <a:solidFill>
                  <a:srgbClr val="1C2B3D"/>
                </a:solidFill>
                <a:latin typeface="Aptos"/>
              </a:defRPr>
            </a:pPr>
            <a:r>
              <a:t>Lecturer schedule UI, separate reader view, and virtual schedule demo.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572768"/>
            <a:ext cx="5257800" cy="4526280"/>
          </a:xfrm>
          <a:prstGeom prst="roundRect">
            <a:avLst/>
          </a:prstGeom>
          <a:solidFill>
            <a:srgbClr val="E6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438912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B69AE"/>
                </a:solidFill>
                <a:latin typeface="Aptos"/>
              </a:rPr>
              <a:t>NEXT INTEGRATION /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95728"/>
            <a:ext cx="4480560" cy="2971800"/>
          </a:xfrm>
          <a:prstGeom prst="rect">
            <a:avLst/>
          </a:prstGeom>
          <a:noFill/>
        </p:spPr>
        <p:txBody>
          <a:bodyPr wrap="square" lIns="73152" tIns="18288" rIns="45720">
            <a:spAutoFit/>
          </a:bodyPr>
          <a:lstStyle/>
          <a:p>
            <a:pPr>
              <a:buChar char="?"/>
              <a:defRPr sz="1500">
                <a:solidFill>
                  <a:srgbClr val="1C2B3D"/>
                </a:solidFill>
                <a:latin typeface="Aptos"/>
              </a:defRPr>
            </a:pPr>
            <a:r>
              <a:t>Connect lecturer-created slots to the institutional timetable feed.</a:t>
            </a:r>
          </a:p>
          <a:p>
            <a:pPr>
              <a:buChar char="?"/>
              <a:defRPr sz="1500">
                <a:solidFill>
                  <a:srgbClr val="1C2B3D"/>
                </a:solidFill>
                <a:latin typeface="Aptos"/>
              </a:defRPr>
            </a:pPr>
            <a:r>
              <a:t>Pilot supported RFID cards/readers; test range and tap latency.</a:t>
            </a:r>
          </a:p>
          <a:p>
            <a:pPr>
              <a:buChar char="?"/>
              <a:defRPr sz="1500">
                <a:solidFill>
                  <a:srgbClr val="1C2B3D"/>
                </a:solidFill>
                <a:latin typeface="Aptos"/>
              </a:defRPr>
            </a:pPr>
            <a:r>
              <a:t>Plan offline/network failures and room-change operations.</a:t>
            </a:r>
          </a:p>
          <a:p>
            <a:pPr>
              <a:buChar char="?"/>
              <a:defRPr sz="1500">
                <a:solidFill>
                  <a:srgbClr val="1C2B3D"/>
                </a:solidFill>
                <a:latin typeface="Aptos"/>
              </a:defRPr>
            </a:pPr>
            <a:r>
              <a:t>Deploy with production secrets, monitoring, and retention policy.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8356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5B6B7D"/>
                </a:solidFill>
                <a:latin typeface="Aptos"/>
              </a:rPr>
              <a:t>Project team: Khoa Goodwill | Gonzalez Salvador Omar Francisco | Zhao Boning | Akylbek Kyzy Asel | Gultekin Elif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4114800" cy="228600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000" b="1">
                <a:solidFill>
                  <a:srgbClr val="11968E"/>
                </a:solidFill>
                <a:latin typeface="Aptos"/>
              </a:rPr>
              <a:t>SCHEDULED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493776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2500" b="1">
                <a:solidFill>
                  <a:srgbClr val="102039"/>
                </a:solidFill>
                <a:latin typeface="Aptos"/>
              </a:rPr>
              <a:t>Automatic registers follow active room schedules, not manual 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35024"/>
            <a:ext cx="10744200" cy="393192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500" b="0">
                <a:solidFill>
                  <a:srgbClr val="5B6B7D"/>
                </a:solidFill>
                <a:latin typeface="Aptos"/>
              </a:rPr>
              <a:t>Lecturer-defined weekly slots; room-bound readers. Each class has a register; event history is retained.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10652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" y="2267712"/>
            <a:ext cx="256032" cy="256032"/>
          </a:xfrm>
          <a:prstGeom prst="ellipse">
            <a:avLst/>
          </a:prstGeom>
          <a:solidFill>
            <a:srgbClr val="2B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2139696"/>
            <a:ext cx="1417320" cy="256032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1">
                <a:solidFill>
                  <a:srgbClr val="2B69AE"/>
                </a:solidFill>
                <a:latin typeface="Aptos"/>
              </a:rPr>
              <a:t>08:00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68880"/>
            <a:ext cx="2377440" cy="274320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300" b="1">
                <a:solidFill>
                  <a:srgbClr val="102039"/>
                </a:solidFill>
                <a:latin typeface="Aptos"/>
              </a:rPr>
              <a:t>Scheduled start</a:t>
            </a:r>
          </a:p>
        </p:txBody>
      </p:sp>
      <p:sp>
        <p:nvSpPr>
          <p:cNvPr id="10" name="Oval 9"/>
          <p:cNvSpPr/>
          <p:nvPr/>
        </p:nvSpPr>
        <p:spPr>
          <a:xfrm>
            <a:off x="4681728" y="2267712"/>
            <a:ext cx="256032" cy="256032"/>
          </a:xfrm>
          <a:prstGeom prst="ellipse">
            <a:avLst/>
          </a:prstGeom>
          <a:solidFill>
            <a:srgbClr val="E8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47488" y="2139696"/>
            <a:ext cx="1417320" cy="256032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1">
                <a:solidFill>
                  <a:srgbClr val="E8B148"/>
                </a:solidFill>
                <a:latin typeface="Aptos"/>
              </a:rPr>
              <a:t>08:00-08:15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468880"/>
            <a:ext cx="2377440" cy="274320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300" b="1">
                <a:solidFill>
                  <a:srgbClr val="102039"/>
                </a:solidFill>
                <a:latin typeface="Aptos"/>
              </a:rPr>
              <a:t>Waiting list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2267712"/>
            <a:ext cx="256032" cy="256032"/>
          </a:xfrm>
          <a:prstGeom prst="ellipse">
            <a:avLst/>
          </a:prstGeom>
          <a:solidFill>
            <a:srgbClr val="11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0" y="2139696"/>
            <a:ext cx="1417320" cy="256032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1">
                <a:solidFill>
                  <a:srgbClr val="11968E"/>
                </a:solidFill>
                <a:latin typeface="Aptos"/>
              </a:rPr>
              <a:t>08:15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468880"/>
            <a:ext cx="2377440" cy="274320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300" b="1">
                <a:solidFill>
                  <a:srgbClr val="102039"/>
                </a:solidFill>
                <a:latin typeface="Aptos"/>
              </a:rPr>
              <a:t>Official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40864"/>
            <a:ext cx="457200" cy="320040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pPr algn="ctr"/>
            <a:r>
              <a:rPr sz="2000" b="1">
                <a:solidFill>
                  <a:srgbClr val="11968E"/>
                </a:solidFill>
                <a:latin typeface="Aptos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340864"/>
            <a:ext cx="457200" cy="320040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pPr algn="ctr"/>
            <a:r>
              <a:rPr sz="2000" b="1">
                <a:solidFill>
                  <a:srgbClr val="11968E"/>
                </a:solidFill>
                <a:latin typeface="Aptos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01568"/>
            <a:ext cx="5074920" cy="2148840"/>
          </a:xfrm>
          <a:prstGeom prst="roundRect">
            <a:avLst/>
          </a:prstGeom>
          <a:solidFill>
            <a:srgbClr val="E6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3639312"/>
            <a:ext cx="2743200" cy="274320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1">
                <a:solidFill>
                  <a:srgbClr val="2B69AE"/>
                </a:solidFill>
                <a:latin typeface="Aptos"/>
              </a:rPr>
              <a:t>ATTENDANCE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041648"/>
            <a:ext cx="4526280" cy="265176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0">
                <a:solidFill>
                  <a:srgbClr val="1C2B3D"/>
                </a:solidFill>
                <a:latin typeface="Aptos"/>
              </a:rPr>
              <a:t>Still inside at 08:15: present/on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361688"/>
            <a:ext cx="4526280" cy="265176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0">
                <a:solidFill>
                  <a:srgbClr val="1C2B3D"/>
                </a:solidFill>
                <a:latin typeface="Aptos"/>
              </a:rPr>
              <a:t>Exit before 08:15: removed from waiting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681728"/>
            <a:ext cx="4526280" cy="265176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0">
                <a:solidFill>
                  <a:srgbClr val="1C2B3D"/>
                </a:solidFill>
                <a:latin typeface="Aptos"/>
              </a:rPr>
              <a:t>Entry after 08:15: marked 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5001768"/>
            <a:ext cx="4526280" cy="265176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0">
                <a:solidFill>
                  <a:srgbClr val="1C2B3D"/>
                </a:solidFill>
                <a:latin typeface="Aptos"/>
              </a:rPr>
              <a:t>Exit before 08:20: left early (20 min from 08:00)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401568"/>
            <a:ext cx="5166360" cy="2148840"/>
          </a:xfrm>
          <a:prstGeom prst="roundRect">
            <a:avLst/>
          </a:prstGeom>
          <a:solidFill>
            <a:srgbClr val="DE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8" y="3639312"/>
            <a:ext cx="4389120" cy="274320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1">
                <a:solidFill>
                  <a:srgbClr val="11968E"/>
                </a:solidFill>
                <a:latin typeface="Aptos"/>
              </a:rPr>
              <a:t>CARRYOVER + CURRENT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041648"/>
            <a:ext cx="4526280" cy="384048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0">
                <a:solidFill>
                  <a:srgbClr val="1C2B3D"/>
                </a:solidFill>
                <a:latin typeface="Aptos"/>
              </a:rPr>
              <a:t>Students inside at the next slot start join its waiting list.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480560"/>
            <a:ext cx="4526280" cy="384048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0">
                <a:solidFill>
                  <a:srgbClr val="1C2B3D"/>
                </a:solidFill>
                <a:latin typeface="Aptos"/>
              </a:rPr>
              <a:t>At the new snapshot, those still inside enter the next register.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919472"/>
            <a:ext cx="4526280" cy="384048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1200" b="0">
                <a:solidFill>
                  <a:srgbClr val="1C2B3D"/>
                </a:solidFill>
                <a:latin typeface="Aptos"/>
              </a:rPr>
              <a:t>Exit moves a student to Left; the outcome stays auditable.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52760" cy="438912"/>
          </a:xfrm>
          <a:prstGeom prst="roundRect">
            <a:avLst/>
          </a:prstGeom>
          <a:solidFill>
            <a:srgbClr val="FFF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916168"/>
            <a:ext cx="10287000" cy="228600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pPr algn="ctr"/>
            <a:r>
              <a:rPr sz="1100" b="1">
                <a:solidFill>
                  <a:srgbClr val="1C2B3D"/>
                </a:solidFill>
                <a:latin typeface="Aptos"/>
              </a:rPr>
              <a:t>Next integration: institutional timetable import and physical reader pilot.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6519672"/>
            <a:ext cx="4846320" cy="182880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r>
              <a:rPr sz="800" b="1">
                <a:solidFill>
                  <a:srgbClr val="5B6B7D"/>
                </a:solidFill>
                <a:latin typeface="Aptos"/>
              </a:rPr>
              <a:t>SMART ATTENDANCE  |  RFID UPGRADE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>
            <a:spAutoFit/>
          </a:bodyPr>
          <a:lstStyle/>
          <a:p>
            <a:pPr algn="r"/>
            <a:r>
              <a:rPr sz="900" b="1">
                <a:solidFill>
                  <a:srgbClr val="5B6B7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824</Words>
  <Application>Microsoft Office PowerPoint</Application>
  <PresentationFormat>Widescreen</PresentationFormat>
  <Paragraphs>154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Khoa Goodwill</cp:lastModifiedBy>
  <cp:revision>2</cp:revision>
  <dcterms:created xsi:type="dcterms:W3CDTF">2013-01-27T09:14:16Z</dcterms:created>
  <dcterms:modified xsi:type="dcterms:W3CDTF">2026-10-23T07:43:53Z</dcterms:modified>
  <cp:category/>
</cp:coreProperties>
</file>